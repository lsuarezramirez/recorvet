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  <p:sldMasterId id="2147483901" r:id="rId5"/>
  </p:sldMasterIdLst>
  <p:notesMasterIdLst>
    <p:notesMasterId r:id="rId32"/>
  </p:notesMasterIdLst>
  <p:sldIdLst>
    <p:sldId id="256" r:id="rId6"/>
    <p:sldId id="4628" r:id="rId7"/>
    <p:sldId id="10442" r:id="rId8"/>
    <p:sldId id="10546" r:id="rId9"/>
    <p:sldId id="10716" r:id="rId10"/>
    <p:sldId id="10717" r:id="rId11"/>
    <p:sldId id="10726" r:id="rId12"/>
    <p:sldId id="10720" r:id="rId13"/>
    <p:sldId id="10729" r:id="rId14"/>
    <p:sldId id="10730" r:id="rId15"/>
    <p:sldId id="10718" r:id="rId16"/>
    <p:sldId id="10721" r:id="rId17"/>
    <p:sldId id="10722" r:id="rId18"/>
    <p:sldId id="10736" r:id="rId19"/>
    <p:sldId id="10719" r:id="rId20"/>
    <p:sldId id="10731" r:id="rId21"/>
    <p:sldId id="10735" r:id="rId22"/>
    <p:sldId id="10732" r:id="rId23"/>
    <p:sldId id="10733" r:id="rId24"/>
    <p:sldId id="10727" r:id="rId25"/>
    <p:sldId id="10699" r:id="rId26"/>
    <p:sldId id="10724" r:id="rId27"/>
    <p:sldId id="10725" r:id="rId28"/>
    <p:sldId id="10723" r:id="rId29"/>
    <p:sldId id="10443" r:id="rId30"/>
    <p:sldId id="10728" r:id="rId3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69B3"/>
    <a:srgbClr val="1669B2"/>
    <a:srgbClr val="FFD000"/>
    <a:srgbClr val="F3CF31"/>
    <a:srgbClr val="E3C90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34"/>
      </p:cViewPr>
      <p:guideLst>
        <p:guide orient="horz" pos="16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D10B9-85B7-264B-96F3-6628AF10FB61}" type="datetimeFigureOut">
              <a:rPr lang="es-CO" smtClean="0"/>
              <a:t>6/12/2025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A44F7-C8C1-0240-934B-F10DFF4FD45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188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A44F7-C8C1-0240-934B-F10DFF4FD451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9832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793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1046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0087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A44F7-C8C1-0240-934B-F10DFF4FD451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2837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9001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75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E5D7F-3588-4237-BB56-887C1CB27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FCDD0B-FD7E-4CF6-83CC-F36E8F9F4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23" y="977970"/>
            <a:ext cx="11779204" cy="1484509"/>
          </a:xfrm>
        </p:spPr>
        <p:txBody>
          <a:bodyPr>
            <a:sp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EA08324-97E8-4D51-9184-7EBFF03B8293}"/>
              </a:ext>
            </a:extLst>
          </p:cNvPr>
          <p:cNvCxnSpPr>
            <a:cxnSpLocks/>
          </p:cNvCxnSpPr>
          <p:nvPr userDrawn="1"/>
        </p:nvCxnSpPr>
        <p:spPr>
          <a:xfrm>
            <a:off x="-16697" y="688531"/>
            <a:ext cx="5148000" cy="0"/>
          </a:xfrm>
          <a:prstGeom prst="line">
            <a:avLst/>
          </a:prstGeom>
          <a:ln w="19050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C446EE1C-4820-4D1C-8477-97E2B2AEE56F}"/>
              </a:ext>
            </a:extLst>
          </p:cNvPr>
          <p:cNvGrpSpPr/>
          <p:nvPr userDrawn="1"/>
        </p:nvGrpSpPr>
        <p:grpSpPr>
          <a:xfrm>
            <a:off x="-3177" y="6826250"/>
            <a:ext cx="12195177" cy="63500"/>
            <a:chOff x="-3177" y="6826250"/>
            <a:chExt cx="12195177" cy="63500"/>
          </a:xfrm>
          <a:gradFill>
            <a:gsLst>
              <a:gs pos="28000">
                <a:schemeClr val="accent1">
                  <a:lumMod val="95000"/>
                  <a:lumOff val="5000"/>
                </a:schemeClr>
              </a:gs>
              <a:gs pos="76000">
                <a:schemeClr val="accent1">
                  <a:lumMod val="60000"/>
                </a:schemeClr>
              </a:gs>
            </a:gsLst>
            <a:path path="circle">
              <a:fillToRect l="100000" t="100000"/>
            </a:path>
          </a:gradFill>
        </p:grpSpPr>
        <p:sp>
          <p:nvSpPr>
            <p:cNvPr id="6" name="Rectangle 12">
              <a:extLst>
                <a:ext uri="{FF2B5EF4-FFF2-40B4-BE49-F238E27FC236}">
                  <a16:creationId xmlns:a16="http://schemas.microsoft.com/office/drawing/2014/main" id="{7585879E-99C7-45D6-B223-A49FD7080CEC}"/>
                </a:ext>
              </a:extLst>
            </p:cNvPr>
            <p:cNvSpPr/>
            <p:nvPr/>
          </p:nvSpPr>
          <p:spPr>
            <a:xfrm>
              <a:off x="4061882" y="6826250"/>
              <a:ext cx="4065059" cy="63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8E1AE773-6EC7-4647-9A82-88C048926889}"/>
                </a:ext>
              </a:extLst>
            </p:cNvPr>
            <p:cNvSpPr/>
            <p:nvPr/>
          </p:nvSpPr>
          <p:spPr>
            <a:xfrm>
              <a:off x="8126941" y="6826250"/>
              <a:ext cx="4065059" cy="63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DD7E67FA-032D-48FE-98A7-628893AB7D8C}"/>
                </a:ext>
              </a:extLst>
            </p:cNvPr>
            <p:cNvSpPr/>
            <p:nvPr/>
          </p:nvSpPr>
          <p:spPr>
            <a:xfrm>
              <a:off x="-3177" y="6826250"/>
              <a:ext cx="4065059" cy="63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628225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63949E7B-772B-41B1-BFC3-8C41A7A6A67B}"/>
              </a:ext>
            </a:extLst>
          </p:cNvPr>
          <p:cNvGrpSpPr/>
          <p:nvPr userDrawn="1"/>
        </p:nvGrpSpPr>
        <p:grpSpPr>
          <a:xfrm>
            <a:off x="-3177" y="6826250"/>
            <a:ext cx="12195177" cy="63500"/>
            <a:chOff x="-3177" y="6826250"/>
            <a:chExt cx="12195177" cy="63500"/>
          </a:xfr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0" scaled="1"/>
            <a:tileRect/>
          </a:gradFill>
        </p:grpSpPr>
        <p:sp>
          <p:nvSpPr>
            <p:cNvPr id="5" name="Rectangle 12">
              <a:extLst>
                <a:ext uri="{FF2B5EF4-FFF2-40B4-BE49-F238E27FC236}">
                  <a16:creationId xmlns:a16="http://schemas.microsoft.com/office/drawing/2014/main" id="{C247FFCD-976A-4769-96B7-1B64CFED0C71}"/>
                </a:ext>
              </a:extLst>
            </p:cNvPr>
            <p:cNvSpPr/>
            <p:nvPr/>
          </p:nvSpPr>
          <p:spPr>
            <a:xfrm>
              <a:off x="4061882" y="6826250"/>
              <a:ext cx="4065059" cy="63500"/>
            </a:xfrm>
            <a:prstGeom prst="rect">
              <a:avLst/>
            </a:prstGeom>
            <a:grpFill/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" name="Rectangle 13">
              <a:extLst>
                <a:ext uri="{FF2B5EF4-FFF2-40B4-BE49-F238E27FC236}">
                  <a16:creationId xmlns:a16="http://schemas.microsoft.com/office/drawing/2014/main" id="{87F843FF-E35E-426C-B2D4-885D21C94AC1}"/>
                </a:ext>
              </a:extLst>
            </p:cNvPr>
            <p:cNvSpPr/>
            <p:nvPr/>
          </p:nvSpPr>
          <p:spPr>
            <a:xfrm>
              <a:off x="8126941" y="6826250"/>
              <a:ext cx="4065059" cy="63500"/>
            </a:xfrm>
            <a:prstGeom prst="rect">
              <a:avLst/>
            </a:prstGeom>
            <a:grpFill/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14">
              <a:extLst>
                <a:ext uri="{FF2B5EF4-FFF2-40B4-BE49-F238E27FC236}">
                  <a16:creationId xmlns:a16="http://schemas.microsoft.com/office/drawing/2014/main" id="{71B8DBCB-E459-42A7-8A81-4B083EECAEF7}"/>
                </a:ext>
              </a:extLst>
            </p:cNvPr>
            <p:cNvSpPr/>
            <p:nvPr/>
          </p:nvSpPr>
          <p:spPr>
            <a:xfrm>
              <a:off x="-3177" y="6826250"/>
              <a:ext cx="4065059" cy="63500"/>
            </a:xfrm>
            <a:prstGeom prst="rect">
              <a:avLst/>
            </a:prstGeom>
            <a:grpFill/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9" name="Título 1">
            <a:extLst>
              <a:ext uri="{FF2B5EF4-FFF2-40B4-BE49-F238E27FC236}">
                <a16:creationId xmlns:a16="http://schemas.microsoft.com/office/drawing/2014/main" id="{20ADA6B8-2368-45DA-8BBA-07BFD3949B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123" y="184538"/>
            <a:ext cx="8527800" cy="477054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EBF8F3D-3E18-4AD6-93C4-87EFCCE2FA80}"/>
              </a:ext>
            </a:extLst>
          </p:cNvPr>
          <p:cNvCxnSpPr>
            <a:cxnSpLocks/>
          </p:cNvCxnSpPr>
          <p:nvPr userDrawn="1"/>
        </p:nvCxnSpPr>
        <p:spPr>
          <a:xfrm>
            <a:off x="-16697" y="688531"/>
            <a:ext cx="5148000" cy="0"/>
          </a:xfrm>
          <a:prstGeom prst="line">
            <a:avLst/>
          </a:prstGeom>
          <a:ln w="19050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57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5004ADFD-4C8C-4765-A0A8-7A44FCF41E5F}"/>
              </a:ext>
            </a:extLst>
          </p:cNvPr>
          <p:cNvGrpSpPr/>
          <p:nvPr userDrawn="1"/>
        </p:nvGrpSpPr>
        <p:grpSpPr>
          <a:xfrm>
            <a:off x="-3177" y="6826250"/>
            <a:ext cx="12195177" cy="63500"/>
            <a:chOff x="-3177" y="6826250"/>
            <a:chExt cx="12195177" cy="63500"/>
          </a:xfrm>
        </p:grpSpPr>
        <p:sp>
          <p:nvSpPr>
            <p:cNvPr id="3" name="Rectangle 12">
              <a:extLst>
                <a:ext uri="{FF2B5EF4-FFF2-40B4-BE49-F238E27FC236}">
                  <a16:creationId xmlns:a16="http://schemas.microsoft.com/office/drawing/2014/main" id="{6394D262-5A11-4ACE-AFB3-FB4CE909F1E7}"/>
                </a:ext>
              </a:extLst>
            </p:cNvPr>
            <p:cNvSpPr/>
            <p:nvPr/>
          </p:nvSpPr>
          <p:spPr>
            <a:xfrm>
              <a:off x="4061882" y="6826250"/>
              <a:ext cx="4065059" cy="6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" name="Rectangle 13">
              <a:extLst>
                <a:ext uri="{FF2B5EF4-FFF2-40B4-BE49-F238E27FC236}">
                  <a16:creationId xmlns:a16="http://schemas.microsoft.com/office/drawing/2014/main" id="{D71C0AE9-2792-425B-9100-104E70325468}"/>
                </a:ext>
              </a:extLst>
            </p:cNvPr>
            <p:cNvSpPr/>
            <p:nvPr/>
          </p:nvSpPr>
          <p:spPr>
            <a:xfrm>
              <a:off x="8126941" y="6826250"/>
              <a:ext cx="4065059" cy="63500"/>
            </a:xfrm>
            <a:prstGeom prst="rect">
              <a:avLst/>
            </a:pr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14">
              <a:extLst>
                <a:ext uri="{FF2B5EF4-FFF2-40B4-BE49-F238E27FC236}">
                  <a16:creationId xmlns:a16="http://schemas.microsoft.com/office/drawing/2014/main" id="{667FA58B-0899-43FC-BEB3-B47FAAD946CF}"/>
                </a:ext>
              </a:extLst>
            </p:cNvPr>
            <p:cNvSpPr/>
            <p:nvPr/>
          </p:nvSpPr>
          <p:spPr>
            <a:xfrm>
              <a:off x="-3177" y="6826250"/>
              <a:ext cx="4065059" cy="63500"/>
            </a:xfrm>
            <a:prstGeom prst="rect">
              <a:avLst/>
            </a:pr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3862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51C4B-FD4D-4F9D-ACE0-24C27F47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C9FBAF-7984-4BAB-9A03-A6A5EFA7A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DB94E23-07D2-4CC2-80EB-E742DC0F8F13}"/>
              </a:ext>
            </a:extLst>
          </p:cNvPr>
          <p:cNvGrpSpPr/>
          <p:nvPr userDrawn="1"/>
        </p:nvGrpSpPr>
        <p:grpSpPr>
          <a:xfrm>
            <a:off x="-3177" y="6826250"/>
            <a:ext cx="12195177" cy="63500"/>
            <a:chOff x="-3177" y="6826250"/>
            <a:chExt cx="12195177" cy="63500"/>
          </a:xfrm>
        </p:grpSpPr>
        <p:sp>
          <p:nvSpPr>
            <p:cNvPr id="5" name="Rectangle 12">
              <a:extLst>
                <a:ext uri="{FF2B5EF4-FFF2-40B4-BE49-F238E27FC236}">
                  <a16:creationId xmlns:a16="http://schemas.microsoft.com/office/drawing/2014/main" id="{B9F2DB60-B02C-4C9D-800F-CC66E384EAB6}"/>
                </a:ext>
              </a:extLst>
            </p:cNvPr>
            <p:cNvSpPr/>
            <p:nvPr/>
          </p:nvSpPr>
          <p:spPr>
            <a:xfrm>
              <a:off x="4061882" y="6826250"/>
              <a:ext cx="4065059" cy="6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13">
              <a:extLst>
                <a:ext uri="{FF2B5EF4-FFF2-40B4-BE49-F238E27FC236}">
                  <a16:creationId xmlns:a16="http://schemas.microsoft.com/office/drawing/2014/main" id="{12BBC56F-6A82-4114-978C-35A99A4F64E9}"/>
                </a:ext>
              </a:extLst>
            </p:cNvPr>
            <p:cNvSpPr/>
            <p:nvPr/>
          </p:nvSpPr>
          <p:spPr>
            <a:xfrm>
              <a:off x="8126941" y="6826250"/>
              <a:ext cx="4065059" cy="63500"/>
            </a:xfrm>
            <a:prstGeom prst="rect">
              <a:avLst/>
            </a:pr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0F3C58B6-BF77-4082-81BC-BEBF414CE172}"/>
                </a:ext>
              </a:extLst>
            </p:cNvPr>
            <p:cNvSpPr/>
            <p:nvPr/>
          </p:nvSpPr>
          <p:spPr>
            <a:xfrm>
              <a:off x="-3177" y="6826250"/>
              <a:ext cx="4065059" cy="63500"/>
            </a:xfrm>
            <a:prstGeom prst="rect">
              <a:avLst/>
            </a:pr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1924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41AAE-C1CF-428A-909E-6A357D615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9C984-4B0A-4605-BD28-CD561FA36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22BC26-D648-4CFF-8CED-3538E020B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8891B3D-BA3D-44BB-BABD-A2CA0F71455F}"/>
              </a:ext>
            </a:extLst>
          </p:cNvPr>
          <p:cNvCxnSpPr>
            <a:cxnSpLocks/>
          </p:cNvCxnSpPr>
          <p:nvPr userDrawn="1"/>
        </p:nvCxnSpPr>
        <p:spPr>
          <a:xfrm>
            <a:off x="-16697" y="688531"/>
            <a:ext cx="5148000" cy="0"/>
          </a:xfrm>
          <a:prstGeom prst="line">
            <a:avLst/>
          </a:prstGeom>
          <a:ln w="19050"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B2DAC8FF-2268-417A-813F-EC3FF9B0A69C}"/>
              </a:ext>
            </a:extLst>
          </p:cNvPr>
          <p:cNvGrpSpPr/>
          <p:nvPr userDrawn="1"/>
        </p:nvGrpSpPr>
        <p:grpSpPr>
          <a:xfrm>
            <a:off x="-3177" y="6826250"/>
            <a:ext cx="12195177" cy="63500"/>
            <a:chOff x="-3177" y="6826250"/>
            <a:chExt cx="12195177" cy="63500"/>
          </a:xfrm>
        </p:grpSpPr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DB2D8DDB-811F-4316-8810-90D97335095E}"/>
                </a:ext>
              </a:extLst>
            </p:cNvPr>
            <p:cNvSpPr/>
            <p:nvPr/>
          </p:nvSpPr>
          <p:spPr>
            <a:xfrm>
              <a:off x="4061882" y="6826250"/>
              <a:ext cx="4065059" cy="6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B6F8FD63-06B4-48A1-BCDD-AD1083D18A54}"/>
                </a:ext>
              </a:extLst>
            </p:cNvPr>
            <p:cNvSpPr/>
            <p:nvPr/>
          </p:nvSpPr>
          <p:spPr>
            <a:xfrm>
              <a:off x="8126941" y="6826250"/>
              <a:ext cx="4065059" cy="63500"/>
            </a:xfrm>
            <a:prstGeom prst="rect">
              <a:avLst/>
            </a:pr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CF2E5274-19DF-45BD-8C5C-13314557C7E2}"/>
                </a:ext>
              </a:extLst>
            </p:cNvPr>
            <p:cNvSpPr/>
            <p:nvPr/>
          </p:nvSpPr>
          <p:spPr>
            <a:xfrm>
              <a:off x="-3177" y="6826250"/>
              <a:ext cx="4065059" cy="63500"/>
            </a:xfrm>
            <a:prstGeom prst="rect">
              <a:avLst/>
            </a:pr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50062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903F7-F388-4558-8832-057ECC168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F44717-8B4F-44AB-A06A-88F909943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1123" y="977970"/>
            <a:ext cx="11779204" cy="569548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4673346-CB92-4CA0-9CAE-9013029C1AAC}"/>
              </a:ext>
            </a:extLst>
          </p:cNvPr>
          <p:cNvCxnSpPr>
            <a:cxnSpLocks/>
          </p:cNvCxnSpPr>
          <p:nvPr userDrawn="1"/>
        </p:nvCxnSpPr>
        <p:spPr>
          <a:xfrm>
            <a:off x="-16697" y="688531"/>
            <a:ext cx="5148000" cy="0"/>
          </a:xfrm>
          <a:prstGeom prst="line">
            <a:avLst/>
          </a:prstGeom>
          <a:ln w="19050"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>
            <a:extLst>
              <a:ext uri="{FF2B5EF4-FFF2-40B4-BE49-F238E27FC236}">
                <a16:creationId xmlns:a16="http://schemas.microsoft.com/office/drawing/2014/main" id="{151E40C0-ADC0-4567-8F7C-1E81311B90AC}"/>
              </a:ext>
            </a:extLst>
          </p:cNvPr>
          <p:cNvGrpSpPr/>
          <p:nvPr userDrawn="1"/>
        </p:nvGrpSpPr>
        <p:grpSpPr>
          <a:xfrm>
            <a:off x="-3177" y="6826250"/>
            <a:ext cx="12195177" cy="63500"/>
            <a:chOff x="-3177" y="6826250"/>
            <a:chExt cx="12195177" cy="63500"/>
          </a:xfrm>
        </p:grpSpPr>
        <p:sp>
          <p:nvSpPr>
            <p:cNvPr id="6" name="Rectangle 12">
              <a:extLst>
                <a:ext uri="{FF2B5EF4-FFF2-40B4-BE49-F238E27FC236}">
                  <a16:creationId xmlns:a16="http://schemas.microsoft.com/office/drawing/2014/main" id="{7B4178CA-24E9-4412-B3F9-8325D0AC9409}"/>
                </a:ext>
              </a:extLst>
            </p:cNvPr>
            <p:cNvSpPr/>
            <p:nvPr/>
          </p:nvSpPr>
          <p:spPr>
            <a:xfrm>
              <a:off x="4061882" y="6826250"/>
              <a:ext cx="4065059" cy="6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5BFCA82C-D9E0-4189-8DD0-F6DAD0513875}"/>
                </a:ext>
              </a:extLst>
            </p:cNvPr>
            <p:cNvSpPr/>
            <p:nvPr/>
          </p:nvSpPr>
          <p:spPr>
            <a:xfrm>
              <a:off x="8126941" y="6826250"/>
              <a:ext cx="4065059" cy="63500"/>
            </a:xfrm>
            <a:prstGeom prst="rect">
              <a:avLst/>
            </a:pr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EB636B6B-1E04-47D9-9FFB-E7F0B7278A43}"/>
                </a:ext>
              </a:extLst>
            </p:cNvPr>
            <p:cNvSpPr/>
            <p:nvPr/>
          </p:nvSpPr>
          <p:spPr>
            <a:xfrm>
              <a:off x="-3177" y="6826250"/>
              <a:ext cx="4065059" cy="63500"/>
            </a:xfrm>
            <a:prstGeom prst="rect">
              <a:avLst/>
            </a:pr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272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22F72-1C09-4E20-933E-CACB60219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9104" y="331655"/>
            <a:ext cx="8483242" cy="446276"/>
          </a:xfr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kumimoji="0" lang="es-CO" sz="2300" b="1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defRPr>
            </a:lvl1pPr>
          </a:lstStyle>
          <a:p>
            <a:pPr marL="0" lvl="0">
              <a:lnSpc>
                <a:spcPct val="100000"/>
              </a:lnSpc>
              <a:spcBef>
                <a:spcPts val="0"/>
              </a:spcBef>
            </a:pPr>
            <a:r>
              <a:rPr lang="es-ES"/>
              <a:t>HAGA CLIC PARA MODIFICAR EL ESTILO DE TÍTULO DEL PATRÓN</a:t>
            </a:r>
            <a:endParaRPr lang="es-CO"/>
          </a:p>
        </p:txBody>
      </p:sp>
      <p:cxnSp>
        <p:nvCxnSpPr>
          <p:cNvPr id="5" name="Straight Arrow Connector 19">
            <a:extLst>
              <a:ext uri="{FF2B5EF4-FFF2-40B4-BE49-F238E27FC236}">
                <a16:creationId xmlns:a16="http://schemas.microsoft.com/office/drawing/2014/main" id="{CE539748-848E-4F67-9DF7-2558BCD74B64}"/>
              </a:ext>
            </a:extLst>
          </p:cNvPr>
          <p:cNvCxnSpPr/>
          <p:nvPr userDrawn="1"/>
        </p:nvCxnSpPr>
        <p:spPr>
          <a:xfrm>
            <a:off x="1055757" y="178354"/>
            <a:ext cx="11042" cy="739913"/>
          </a:xfrm>
          <a:prstGeom prst="straightConnector1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802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02BF4-A10F-4BC6-8359-7D237BC4F308}" type="datetimeFigureOut">
              <a:rPr lang="es-CO" smtClean="0"/>
              <a:t>6/12/2025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B8D1-1225-4C30-A69C-F403460A08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415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23FA-F241-EB43-A6F8-66B69562E7F6}" type="datetimeFigureOut">
              <a:rPr lang="es-CO" smtClean="0"/>
              <a:t>6/12/2025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69A674C-551C-F343-960C-20145E3A4B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226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57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23FA-F241-EB43-A6F8-66B69562E7F6}" type="datetimeFigureOut">
              <a:rPr lang="es-CO" smtClean="0"/>
              <a:t>6/12/2025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69A674C-551C-F343-960C-20145E3A4B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63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643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834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23FA-F241-EB43-A6F8-66B69562E7F6}" type="datetimeFigureOut">
              <a:rPr lang="es-CO" smtClean="0"/>
              <a:t>6/12/2025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674C-551C-F343-960C-20145E3A4B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543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23FA-F241-EB43-A6F8-66B69562E7F6}" type="datetimeFigureOut">
              <a:rPr lang="es-CO" smtClean="0"/>
              <a:t>6/12/2025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674C-551C-F343-960C-20145E3A4B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3907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0470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23FA-F241-EB43-A6F8-66B69562E7F6}" type="datetimeFigureOut">
              <a:rPr lang="es-CO" smtClean="0"/>
              <a:t>6/12/2025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69A674C-551C-F343-960C-20145E3A4B9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21887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5260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51270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868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3918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1102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3349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1149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75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A14E99B-957E-4800-83FD-901A53ECC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23" y="184538"/>
            <a:ext cx="8527800" cy="477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92E525-5321-49D1-8481-0E25AD08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1123" y="977970"/>
            <a:ext cx="11779204" cy="5695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43E8CD-BDAE-4AB7-8E09-3A7471B7CD8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6000" y="0"/>
            <a:ext cx="2826000" cy="11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43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CO" sz="2400" b="1" kern="1200" dirty="0">
          <a:solidFill>
            <a:schemeClr val="accent1"/>
          </a:solidFill>
          <a:latin typeface="+mn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94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  <p:sldLayoutId id="2147483914" r:id="rId13"/>
    <p:sldLayoutId id="2147483915" r:id="rId14"/>
    <p:sldLayoutId id="2147483916" r:id="rId15"/>
    <p:sldLayoutId id="2147483917" r:id="rId16"/>
    <p:sldLayoutId id="21474839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png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0547A66-89F4-43D1-94D1-61135FF2F894}"/>
              </a:ext>
            </a:extLst>
          </p:cNvPr>
          <p:cNvSpPr/>
          <p:nvPr/>
        </p:nvSpPr>
        <p:spPr>
          <a:xfrm>
            <a:off x="-209551" y="-62448"/>
            <a:ext cx="12325349" cy="7101192"/>
          </a:xfrm>
          <a:prstGeom prst="rect">
            <a:avLst/>
          </a:prstGeom>
          <a:blipFill>
            <a:blip r:embed="rId3">
              <a:alphaModFix amt="20000"/>
            </a:blip>
            <a:stretch>
              <a:fillRect/>
            </a:stretch>
          </a:blip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165D72-895A-CA48-959C-676565A5CA60}"/>
              </a:ext>
            </a:extLst>
          </p:cNvPr>
          <p:cNvSpPr/>
          <p:nvPr/>
        </p:nvSpPr>
        <p:spPr>
          <a:xfrm>
            <a:off x="76201" y="2124075"/>
            <a:ext cx="1247085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Detección de enfermedades en Animales caninos</a:t>
            </a:r>
            <a:endParaRPr lang="es-CO" sz="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144EB12C-C087-4368-837C-9D7571B6C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3875" y="2961551"/>
            <a:ext cx="2057400" cy="483054"/>
          </a:xfrm>
        </p:spPr>
        <p:txBody>
          <a:bodyPr anchor="ctr">
            <a:normAutofit fontScale="92500" lnSpcReduction="20000"/>
          </a:bodyPr>
          <a:lstStyle/>
          <a:p>
            <a:pPr algn="l"/>
            <a:r>
              <a:rPr lang="es-ES" sz="3200" b="1" dirty="0" err="1">
                <a:solidFill>
                  <a:schemeClr val="accent1"/>
                </a:solidFill>
              </a:rPr>
              <a:t>Recorvet</a:t>
            </a:r>
            <a:endParaRPr lang="es-CO" sz="3200" b="1" dirty="0">
              <a:solidFill>
                <a:schemeClr val="accent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641197C-420C-45DE-BC34-B08A86F65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0"/>
            <a:ext cx="1371600" cy="1371600"/>
          </a:xfrm>
          <a:prstGeom prst="rect">
            <a:avLst/>
          </a:prstGeom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61B175F1-DF31-467B-830D-AD5373013AD5}"/>
              </a:ext>
            </a:extLst>
          </p:cNvPr>
          <p:cNvSpPr txBox="1">
            <a:spLocks/>
          </p:cNvSpPr>
          <p:nvPr/>
        </p:nvSpPr>
        <p:spPr>
          <a:xfrm>
            <a:off x="609599" y="4489793"/>
            <a:ext cx="10005951" cy="9526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b="1" dirty="0">
                <a:solidFill>
                  <a:schemeClr val="accent1"/>
                </a:solidFill>
              </a:rPr>
              <a:t>Leidy Katherine </a:t>
            </a:r>
            <a:r>
              <a:rPr lang="es-ES" sz="2400" b="1" dirty="0" err="1">
                <a:solidFill>
                  <a:schemeClr val="accent1"/>
                </a:solidFill>
              </a:rPr>
              <a:t>Gonzalez</a:t>
            </a:r>
            <a:r>
              <a:rPr lang="es-ES" sz="2400" b="1" dirty="0">
                <a:solidFill>
                  <a:schemeClr val="accent1"/>
                </a:solidFill>
              </a:rPr>
              <a:t> </a:t>
            </a:r>
            <a:r>
              <a:rPr lang="es-ES" sz="2400" b="1" dirty="0" err="1">
                <a:solidFill>
                  <a:schemeClr val="accent1"/>
                </a:solidFill>
              </a:rPr>
              <a:t>Cespedes</a:t>
            </a:r>
            <a:endParaRPr lang="es-ES" sz="2400" b="1" dirty="0">
              <a:solidFill>
                <a:schemeClr val="accent1"/>
              </a:solidFill>
            </a:endParaRPr>
          </a:p>
          <a:p>
            <a:r>
              <a:rPr lang="es-ES" sz="2400" b="1" dirty="0">
                <a:solidFill>
                  <a:schemeClr val="accent1"/>
                </a:solidFill>
              </a:rPr>
              <a:t>Laura Jineth Suarez </a:t>
            </a:r>
            <a:r>
              <a:rPr lang="es-ES" sz="2400" b="1" dirty="0" err="1">
                <a:solidFill>
                  <a:schemeClr val="accent1"/>
                </a:solidFill>
              </a:rPr>
              <a:t>Ramirez</a:t>
            </a:r>
            <a:endParaRPr lang="es-ES" sz="2400" b="1" dirty="0">
              <a:solidFill>
                <a:schemeClr val="accent1"/>
              </a:solidFill>
            </a:endParaRPr>
          </a:p>
          <a:p>
            <a:endParaRPr lang="es-CO" sz="2400" dirty="0">
              <a:solidFill>
                <a:schemeClr val="accent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2106379-5009-4C7E-8FC9-4D5254D5D491}"/>
              </a:ext>
            </a:extLst>
          </p:cNvPr>
          <p:cNvSpPr txBox="1"/>
          <p:nvPr/>
        </p:nvSpPr>
        <p:spPr>
          <a:xfrm>
            <a:off x="609599" y="5981700"/>
            <a:ext cx="6648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Especialización Big Data y Análisis de Datos</a:t>
            </a:r>
          </a:p>
          <a:p>
            <a:r>
              <a:rPr lang="es-CO" dirty="0"/>
              <a:t>Diciembre 10 - 2025</a:t>
            </a:r>
          </a:p>
        </p:txBody>
      </p:sp>
    </p:spTree>
    <p:extLst>
      <p:ext uri="{BB962C8B-B14F-4D97-AF65-F5344CB8AC3E}">
        <p14:creationId xmlns:p14="http://schemas.microsoft.com/office/powerpoint/2010/main" val="764736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DF7F6588-D499-4D10-895C-AA5E2B24E289}"/>
              </a:ext>
            </a:extLst>
          </p:cNvPr>
          <p:cNvSpPr/>
          <p:nvPr/>
        </p:nvSpPr>
        <p:spPr>
          <a:xfrm>
            <a:off x="312606" y="297128"/>
            <a:ext cx="46365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b="1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METODOLOGÍA DE TRABAJO</a:t>
            </a:r>
            <a:endParaRPr kumimoji="0" lang="es-CO" sz="2400" b="0" i="0" u="none" strike="noStrike" kern="1200" cap="none" spc="0" normalizeH="0" baseline="0" noProof="0" dirty="0">
              <a:ln>
                <a:noFill/>
              </a:ln>
              <a:solidFill>
                <a:srgbClr val="1669B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ACEE097-08D2-0D47-78E3-34224DC5F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288" y="1452952"/>
            <a:ext cx="5214826" cy="4740320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45220B5-F55B-186D-653C-3390F77545EA}"/>
              </a:ext>
            </a:extLst>
          </p:cNvPr>
          <p:cNvSpPr/>
          <p:nvPr/>
        </p:nvSpPr>
        <p:spPr>
          <a:xfrm>
            <a:off x="7314529" y="3304314"/>
            <a:ext cx="1388884" cy="1285615"/>
          </a:xfrm>
          <a:prstGeom prst="round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F504513-94D4-4B5A-B409-77C00CF39949}"/>
              </a:ext>
            </a:extLst>
          </p:cNvPr>
          <p:cNvSpPr/>
          <p:nvPr/>
        </p:nvSpPr>
        <p:spPr>
          <a:xfrm>
            <a:off x="846006" y="1869617"/>
            <a:ext cx="2837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1669B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OBJETIVO</a:t>
            </a:r>
            <a:endParaRPr kumimoji="0" lang="es-CO" sz="2400" b="0" i="0" u="none" strike="noStrike" kern="1200" cap="none" spc="0" normalizeH="0" baseline="0" noProof="0" dirty="0">
              <a:ln>
                <a:noFill/>
              </a:ln>
              <a:solidFill>
                <a:srgbClr val="1669B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6E87D4C-62AC-44A4-A7A2-9DDEF3BAD4A6}"/>
              </a:ext>
            </a:extLst>
          </p:cNvPr>
          <p:cNvSpPr/>
          <p:nvPr/>
        </p:nvSpPr>
        <p:spPr>
          <a:xfrm>
            <a:off x="9075606" y="1869618"/>
            <a:ext cx="2837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b="1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FUENTES</a:t>
            </a:r>
            <a:endParaRPr kumimoji="0" lang="es-CO" sz="2400" b="0" i="0" u="none" strike="noStrike" kern="1200" cap="none" spc="0" normalizeH="0" baseline="0" noProof="0" dirty="0">
              <a:ln>
                <a:noFill/>
              </a:ln>
              <a:solidFill>
                <a:srgbClr val="1669B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9142BDA-AE40-4D2F-A52C-D187E5FD574C}"/>
              </a:ext>
            </a:extLst>
          </p:cNvPr>
          <p:cNvSpPr txBox="1">
            <a:spLocks/>
          </p:cNvSpPr>
          <p:nvPr/>
        </p:nvSpPr>
        <p:spPr>
          <a:xfrm>
            <a:off x="856649" y="2331282"/>
            <a:ext cx="2417147" cy="3254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s-CO" sz="1400" b="1" dirty="0"/>
              <a:t>Determinar que enfermedades de caninos se pueden predecir a partir de las historias clínicas</a:t>
            </a:r>
          </a:p>
          <a:p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endParaRPr lang="es-E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4DA391C-E185-428C-8E49-EDB8F2501B3A}"/>
              </a:ext>
            </a:extLst>
          </p:cNvPr>
          <p:cNvSpPr txBox="1">
            <a:spLocks/>
          </p:cNvSpPr>
          <p:nvPr/>
        </p:nvSpPr>
        <p:spPr>
          <a:xfrm>
            <a:off x="9086249" y="2331282"/>
            <a:ext cx="2417147" cy="3254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400" b="1" dirty="0"/>
              <a:t>Base de datos de historias clínicas de </a:t>
            </a:r>
            <a:r>
              <a:rPr lang="es-CO" sz="1400" b="1" dirty="0" err="1"/>
              <a:t>Recorvet</a:t>
            </a:r>
            <a:r>
              <a:rPr lang="es-CO" sz="1400" b="1" dirty="0"/>
              <a:t>, para pacientes entre el periodo </a:t>
            </a:r>
          </a:p>
          <a:p>
            <a:r>
              <a:rPr lang="es-CO" sz="1400" b="1" dirty="0"/>
              <a:t>Diciembre del 2017 – enero del 2021</a:t>
            </a:r>
            <a:endParaRPr lang="es-CO" sz="600" b="1" dirty="0"/>
          </a:p>
          <a:p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endParaRPr lang="es-E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FA9D2F8-DEF6-46FE-B248-460F6F320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6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89D540-84FA-4059-9124-DA1EE3C6FC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15241"/>
            <a:ext cx="12192000" cy="682751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6B6873B-DFA8-4808-93E3-79087C1DCF3C}"/>
              </a:ext>
            </a:extLst>
          </p:cNvPr>
          <p:cNvSpPr txBox="1"/>
          <p:nvPr/>
        </p:nvSpPr>
        <p:spPr>
          <a:xfrm>
            <a:off x="2596290" y="2823463"/>
            <a:ext cx="6799616" cy="1015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es-CO" sz="6000" b="1" dirty="0">
                <a:solidFill>
                  <a:schemeClr val="bg2">
                    <a:lumMod val="50000"/>
                  </a:schemeClr>
                </a:solidFill>
                <a:latin typeface="Calibri"/>
                <a:cs typeface="Calibri"/>
              </a:rPr>
              <a:t>Análisis Exploratorio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41C4E6F-738D-4125-9AD4-6E4623F29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4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499297" y="249933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de datos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96A5EF-CB68-4874-A648-FC5B7D82A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84" y="1900518"/>
            <a:ext cx="3972373" cy="283284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9E59DB9-2FB0-4FD9-B3D6-3E9D06623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545" y="1248601"/>
            <a:ext cx="7309879" cy="436079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7E7B02B-8E8C-4486-AF9B-A3D2CE628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88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592656" y="249933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de datos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2A13A0-DBD7-4C64-A0F2-698B207FA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522" y="1049431"/>
            <a:ext cx="9420225" cy="56197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2845A6E-4538-4DCB-B25D-FEE4BBE8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75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449781" y="276716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2A6720-FF4F-4396-9E05-B2169639F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961534"/>
            <a:ext cx="9420225" cy="56197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309F6B-A350-4A46-97BF-EEA40CF13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91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89D540-84FA-4059-9124-DA1EE3C6FC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0" y="19050"/>
            <a:ext cx="12192000" cy="68199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6B6873B-DFA8-4808-93E3-79087C1DCF3C}"/>
              </a:ext>
            </a:extLst>
          </p:cNvPr>
          <p:cNvSpPr txBox="1"/>
          <p:nvPr/>
        </p:nvSpPr>
        <p:spPr>
          <a:xfrm>
            <a:off x="2596290" y="2823463"/>
            <a:ext cx="6799616" cy="1015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es-CO" sz="6000" b="1" dirty="0">
                <a:solidFill>
                  <a:schemeClr val="bg2">
                    <a:lumMod val="50000"/>
                  </a:schemeClr>
                </a:solidFill>
                <a:latin typeface="Calibri"/>
                <a:cs typeface="Calibri"/>
              </a:rPr>
              <a:t>Modelo Analítico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4EF041-2EE5-4A2C-9437-A18DFA1FC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597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>
            <a:extLst>
              <a:ext uri="{FF2B5EF4-FFF2-40B4-BE49-F238E27FC236}">
                <a16:creationId xmlns:a16="http://schemas.microsoft.com/office/drawing/2014/main" id="{946AD361-41CD-40CF-9CAF-47323639A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5600700"/>
            <a:ext cx="1371600" cy="12573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249756" y="285143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Modelo – POWER BI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7EEB35-77E8-4AB3-8476-00D59B1B6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81" y="651558"/>
            <a:ext cx="5356854" cy="33013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73278CD-4182-476A-9DFE-A9EEBA659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725" y="651558"/>
            <a:ext cx="5706271" cy="330131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572A34D-BB7C-484A-86D2-D72A3038C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5595" y="4029075"/>
            <a:ext cx="331026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40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249756" y="285143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Modelo – POWER BI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F8DBB44-4ED2-434C-90DD-CCA7EF2B5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56" y="746808"/>
            <a:ext cx="4918702" cy="297967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42BD89A-2393-4B0E-BE80-EF67F494B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024" y="746808"/>
            <a:ext cx="5706271" cy="303786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28E2678-DB28-4A09-9B06-51C88FBF1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57" y="3952875"/>
            <a:ext cx="11371538" cy="279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08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249756" y="285143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Modelo – POWER BI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454780-6D3A-4F9F-8894-F260FB0CF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6" y="1241172"/>
            <a:ext cx="4153360" cy="34451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40F5C3D-C3EA-4855-A6A1-2CD7B13C9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238" y="1241172"/>
            <a:ext cx="7768762" cy="401040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497C03-92CC-4967-B613-6E0320030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5600700"/>
            <a:ext cx="13716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47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259281" y="227283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Modelo exploratorio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1B95BD6-BD08-4049-A8FD-BE43C1D76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263" y="940138"/>
            <a:ext cx="4646217" cy="2242676"/>
          </a:xfrm>
          <a:prstGeom prst="rect">
            <a:avLst/>
          </a:prstGeom>
        </p:spPr>
      </p:pic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EC07918E-29E4-40CB-9310-20B883659CB6}"/>
              </a:ext>
            </a:extLst>
          </p:cNvPr>
          <p:cNvSpPr/>
          <p:nvPr/>
        </p:nvSpPr>
        <p:spPr>
          <a:xfrm>
            <a:off x="1208083" y="1409078"/>
            <a:ext cx="2286000" cy="7097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/>
              <a:t>Crear base modelo</a:t>
            </a:r>
          </a:p>
          <a:p>
            <a:pPr algn="ctr"/>
            <a:r>
              <a:rPr lang="es-ES" sz="1600" dirty="0"/>
              <a:t>Por enfermedad</a:t>
            </a:r>
            <a:endParaRPr lang="es-CO" sz="1600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8955C861-E39C-4C1B-9C12-0C9161030A3C}"/>
              </a:ext>
            </a:extLst>
          </p:cNvPr>
          <p:cNvSpPr/>
          <p:nvPr/>
        </p:nvSpPr>
        <p:spPr>
          <a:xfrm>
            <a:off x="1262947" y="2600845"/>
            <a:ext cx="2176271" cy="84433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/>
              <a:t>Entrenar modelo de </a:t>
            </a:r>
            <a:r>
              <a:rPr lang="es-ES" sz="1600" dirty="0" err="1"/>
              <a:t>random</a:t>
            </a:r>
            <a:r>
              <a:rPr lang="es-ES" sz="1600" dirty="0"/>
              <a:t> </a:t>
            </a:r>
            <a:r>
              <a:rPr lang="es-ES" sz="1600" dirty="0" err="1"/>
              <a:t>forest</a:t>
            </a:r>
            <a:r>
              <a:rPr lang="es-ES" sz="1600" dirty="0"/>
              <a:t> con base </a:t>
            </a:r>
            <a:r>
              <a:rPr lang="es-ES" sz="1600" dirty="0" err="1"/>
              <a:t>train</a:t>
            </a:r>
            <a:endParaRPr lang="es-ES" sz="1600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9B7106A-B969-4887-B125-C59223FD6A5D}"/>
              </a:ext>
            </a:extLst>
          </p:cNvPr>
          <p:cNvSpPr/>
          <p:nvPr/>
        </p:nvSpPr>
        <p:spPr>
          <a:xfrm>
            <a:off x="1208083" y="3872867"/>
            <a:ext cx="2286000" cy="84433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/>
              <a:t>Realizar predicción del modelo con base de test</a:t>
            </a:r>
            <a:endParaRPr lang="es-CO" sz="1600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72F9DF4E-6734-44B2-B5CA-B451E9C8B0DF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2351083" y="2118823"/>
            <a:ext cx="0" cy="4820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0903E7F5-B528-4441-B81E-CAE440DC5351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2351083" y="3445177"/>
            <a:ext cx="0" cy="4276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A601689F-67E6-42CC-8A10-5CE338FDE3FE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>
            <a:off x="2351083" y="4717199"/>
            <a:ext cx="0" cy="4820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4372926E-42E3-4221-A16D-4A95260B0806}"/>
              </a:ext>
            </a:extLst>
          </p:cNvPr>
          <p:cNvSpPr/>
          <p:nvPr/>
        </p:nvSpPr>
        <p:spPr>
          <a:xfrm>
            <a:off x="1208083" y="5199221"/>
            <a:ext cx="2286000" cy="8498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dirty="0"/>
              <a:t>Selección de modelos con AUC &gt; 0,7</a:t>
            </a:r>
            <a:endParaRPr lang="es-CO" sz="1600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33B20EC5-117F-4DB0-82F3-0585A1BBB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264" y="3349697"/>
            <a:ext cx="4729168" cy="3192187"/>
          </a:xfrm>
          <a:prstGeom prst="rect">
            <a:avLst/>
          </a:prstGeom>
        </p:spPr>
      </p:pic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933E9AE-FD03-449B-9AAF-F3731644E5A5}"/>
              </a:ext>
            </a:extLst>
          </p:cNvPr>
          <p:cNvCxnSpPr/>
          <p:nvPr/>
        </p:nvCxnSpPr>
        <p:spPr>
          <a:xfrm flipH="1">
            <a:off x="3621741" y="1763950"/>
            <a:ext cx="2023522" cy="0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4A34188E-C95D-4822-BA61-E4A344B80C18}"/>
              </a:ext>
            </a:extLst>
          </p:cNvPr>
          <p:cNvCxnSpPr>
            <a:cxnSpLocks/>
          </p:cNvCxnSpPr>
          <p:nvPr/>
        </p:nvCxnSpPr>
        <p:spPr>
          <a:xfrm flipV="1">
            <a:off x="3494083" y="5624149"/>
            <a:ext cx="1902670" cy="1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3" name="Imagen 42">
            <a:extLst>
              <a:ext uri="{FF2B5EF4-FFF2-40B4-BE49-F238E27FC236}">
                <a16:creationId xmlns:a16="http://schemas.microsoft.com/office/drawing/2014/main" id="{776C5F64-E38C-4DFA-8EAE-BDD692D9D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0"/>
            <a:ext cx="13716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56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173556" y="234342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para la enfermedad Vómito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D013AF2-785F-44E6-9576-19F804DC7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1534"/>
            <a:ext cx="12192000" cy="38181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76B3A2B-52E3-4857-B146-2E3FE27182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50" t="60658" r="56249" b="5507"/>
          <a:stretch/>
        </p:blipFill>
        <p:spPr>
          <a:xfrm>
            <a:off x="1499017" y="1583834"/>
            <a:ext cx="2488783" cy="5274166"/>
          </a:xfrm>
          <a:prstGeom prst="rect">
            <a:avLst/>
          </a:prstGeom>
        </p:spPr>
      </p:pic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267A26FE-BEBD-499D-BDF7-B104CCA3FBA4}"/>
              </a:ext>
            </a:extLst>
          </p:cNvPr>
          <p:cNvCxnSpPr/>
          <p:nvPr/>
        </p:nvCxnSpPr>
        <p:spPr>
          <a:xfrm rot="10800000" flipV="1">
            <a:off x="3987800" y="4562595"/>
            <a:ext cx="1054100" cy="482600"/>
          </a:xfrm>
          <a:prstGeom prst="bentConnector3">
            <a:avLst>
              <a:gd name="adj1" fmla="val 602"/>
            </a:avLst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D787A50D-2825-4F8E-BB83-DCD144DDA5F0}"/>
              </a:ext>
            </a:extLst>
          </p:cNvPr>
          <p:cNvSpPr/>
          <p:nvPr/>
        </p:nvSpPr>
        <p:spPr>
          <a:xfrm>
            <a:off x="11137900" y="3781305"/>
            <a:ext cx="419100" cy="1022590"/>
          </a:xfrm>
          <a:prstGeom prst="ellipse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03DF770-FA57-4B27-858F-0D7929F76A4F}"/>
              </a:ext>
            </a:extLst>
          </p:cNvPr>
          <p:cNvSpPr txBox="1"/>
          <p:nvPr/>
        </p:nvSpPr>
        <p:spPr>
          <a:xfrm>
            <a:off x="3987799" y="5362905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0" dirty="0">
                <a:effectLst/>
                <a:latin typeface="Consolas" panose="020B0609020204030204" pitchFamily="49" charset="0"/>
              </a:rPr>
              <a:t>"54": "Fila Brasileiro"</a:t>
            </a:r>
          </a:p>
          <a:p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C7671E8-570E-4BE4-BA4A-E0F7CA33F6BB}"/>
              </a:ext>
            </a:extLst>
          </p:cNvPr>
          <p:cNvSpPr txBox="1"/>
          <p:nvPr/>
        </p:nvSpPr>
        <p:spPr>
          <a:xfrm>
            <a:off x="7575030" y="4882419"/>
            <a:ext cx="4616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128": "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Weimaraner</a:t>
            </a:r>
            <a:r>
              <a:rPr lang="pt-BR" b="0" dirty="0">
                <a:effectLst/>
                <a:latin typeface="Consolas" panose="020B0609020204030204" pitchFamily="49" charset="0"/>
              </a:rPr>
              <a:t> (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Braco</a:t>
            </a:r>
            <a:r>
              <a:rPr lang="pt-BR" b="0" dirty="0">
                <a:effectLst/>
                <a:latin typeface="Consolas" panose="020B0609020204030204" pitchFamily="49" charset="0"/>
              </a:rPr>
              <a:t> de Weimar)</a:t>
            </a:r>
          </a:p>
          <a:p>
            <a:endParaRPr lang="es-CO" dirty="0"/>
          </a:p>
        </p:txBody>
      </p:sp>
      <p:pic>
        <p:nvPicPr>
          <p:cNvPr id="1026" name="Picture 2" descr="Imágenes de &quot;Fila Brasileiro&quot;: descubre bancos de fotos, ilustraciones,  vectores y vídeos de 272 | Adobe Stock">
            <a:extLst>
              <a:ext uri="{FF2B5EF4-FFF2-40B4-BE49-F238E27FC236}">
                <a16:creationId xmlns:a16="http://schemas.microsoft.com/office/drawing/2014/main" id="{FD82B9B3-FC9F-4F54-A5E4-2E01AF3B8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642" y="5724047"/>
            <a:ext cx="2022349" cy="1101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formación sobre la raza Braco de Weimar de pelo corto | Purina®">
            <a:extLst>
              <a:ext uri="{FF2B5EF4-FFF2-40B4-BE49-F238E27FC236}">
                <a16:creationId xmlns:a16="http://schemas.microsoft.com/office/drawing/2014/main" id="{B273FAAA-2B2F-473F-B001-EFBFD6945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688" y="5205584"/>
            <a:ext cx="1479654" cy="147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5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180038" y="244810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para la enfermedad Vómito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D1E7C8-C9D9-47C7-892D-FC9039FAC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38" y="1762125"/>
            <a:ext cx="6274408" cy="36391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0C70E6C-5F1C-4E8C-8962-37BB4460D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714" y="706475"/>
            <a:ext cx="4944561" cy="28052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F9ECF3E-C0F3-438A-91F0-C429DF5A9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714" y="3593480"/>
            <a:ext cx="4944561" cy="318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05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173556" y="234342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para la enfermedad Urolitiasis/Cálculos Urinarios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C02F74-7B17-4C30-93BB-E47879FF5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56" y="1203135"/>
            <a:ext cx="11951769" cy="38181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678E322-8425-4799-BE23-B086FE2FA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857" y="1943100"/>
            <a:ext cx="1455279" cy="4076700"/>
          </a:xfrm>
          <a:prstGeom prst="rect">
            <a:avLst/>
          </a:prstGeom>
        </p:spPr>
      </p:pic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267A26FE-BEBD-499D-BDF7-B104CCA3FBA4}"/>
              </a:ext>
            </a:extLst>
          </p:cNvPr>
          <p:cNvCxnSpPr>
            <a:cxnSpLocks/>
          </p:cNvCxnSpPr>
          <p:nvPr/>
        </p:nvCxnSpPr>
        <p:spPr>
          <a:xfrm>
            <a:off x="1219200" y="4970513"/>
            <a:ext cx="1309657" cy="630040"/>
          </a:xfrm>
          <a:prstGeom prst="bentConnector3">
            <a:avLst>
              <a:gd name="adj1" fmla="val -183"/>
            </a:avLst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FEE2B2E-3DA8-425E-9475-C631D226AE1B}"/>
              </a:ext>
            </a:extLst>
          </p:cNvPr>
          <p:cNvSpPr txBox="1"/>
          <p:nvPr/>
        </p:nvSpPr>
        <p:spPr>
          <a:xfrm>
            <a:off x="3944309" y="5285533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0" dirty="0">
                <a:effectLst/>
                <a:latin typeface="Consolas" panose="020B0609020204030204" pitchFamily="49" charset="0"/>
              </a:rPr>
              <a:t>"7": "American Pitbull Terrier"</a:t>
            </a:r>
          </a:p>
        </p:txBody>
      </p:sp>
      <p:pic>
        <p:nvPicPr>
          <p:cNvPr id="2050" name="Picture 2" descr="Todo sobre el perro Pitbull Terrier Americano | Purina®">
            <a:extLst>
              <a:ext uri="{FF2B5EF4-FFF2-40B4-BE49-F238E27FC236}">
                <a16:creationId xmlns:a16="http://schemas.microsoft.com/office/drawing/2014/main" id="{496F727D-2E54-420E-9F00-30546844A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434" y="5600554"/>
            <a:ext cx="1677742" cy="1118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A07B8A07-FF7D-4E24-BA3B-91D2E446F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0400" y="5600700"/>
            <a:ext cx="13716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720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268806" y="266093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para la enfermedad Urolitiasis/Cálculos Urinarios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BD9625-6688-441C-9CC2-99BEFA3F3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4" y="1729592"/>
            <a:ext cx="5915025" cy="33988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5B9810-ACB3-4B92-B38C-51D131C47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752" y="727758"/>
            <a:ext cx="5237697" cy="29220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20B35FD-D3E5-450B-86B3-9972C6DCE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755" y="3743622"/>
            <a:ext cx="5237694" cy="292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14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268806" y="266093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para la enfermedad </a:t>
            </a:r>
            <a:r>
              <a:rPr lang="es-ES" sz="2400" dirty="0" err="1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Otodectes</a:t>
            </a: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(Ácaros en Oídos)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28DEDC4-C9B8-46D5-8006-CDC1DBA69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1687908"/>
            <a:ext cx="5791199" cy="35909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9E8F82A-9748-4329-8BB7-EBE588F70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25" y="727758"/>
            <a:ext cx="5410199" cy="299317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CE8E675-397E-491B-BADE-0A6AD3091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25" y="3864823"/>
            <a:ext cx="5410199" cy="282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4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268806" y="266093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para la enfermedad Periodontal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8F4B5D-AA06-4004-BF11-90A7075ED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668220"/>
            <a:ext cx="5924550" cy="379614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D603EBD-9557-4C04-ACA2-4D5451CD5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4" y="727758"/>
            <a:ext cx="5262889" cy="299611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B23AF75-586B-449F-93B6-D8558250C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4" y="3829954"/>
            <a:ext cx="5262889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92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268806" y="266093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para la enfermedad Hipersensibilidad Alimentaria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C7232C-B37B-4320-A4E9-96AA9A543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1643377"/>
            <a:ext cx="6305549" cy="33235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517079A-6555-4F68-A4A3-7EA2366F8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113" y="727758"/>
            <a:ext cx="4888437" cy="290126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C9B5347-52AC-4B09-9C70-F7C60685C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113" y="3775758"/>
            <a:ext cx="4888437" cy="290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47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C0C527C-61A0-5EEC-B537-592B38AA6EB8}"/>
              </a:ext>
            </a:extLst>
          </p:cNvPr>
          <p:cNvSpPr/>
          <p:nvPr/>
        </p:nvSpPr>
        <p:spPr>
          <a:xfrm>
            <a:off x="268806" y="266093"/>
            <a:ext cx="94710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>
                <a:solidFill>
                  <a:srgbClr val="1669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para la enfermedad Bronquitis Aguda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4A7BAF-718A-48EE-86C3-7804A1329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84" y="1580431"/>
            <a:ext cx="6079166" cy="33542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D1E30B0-C53D-4917-A649-45F061DDB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980" y="727758"/>
            <a:ext cx="5216938" cy="26527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8929F8B-C64C-4C93-AFF9-4A6FB3035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980" y="3495675"/>
            <a:ext cx="5216939" cy="309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05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89D540-84FA-4059-9124-DA1EE3C6FC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95250"/>
            <a:ext cx="12192000" cy="693800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6B6873B-DFA8-4808-93E3-79087C1DCF3C}"/>
              </a:ext>
            </a:extLst>
          </p:cNvPr>
          <p:cNvSpPr txBox="1"/>
          <p:nvPr/>
        </p:nvSpPr>
        <p:spPr>
          <a:xfrm>
            <a:off x="2596290" y="2823463"/>
            <a:ext cx="6799616" cy="1015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es-CO" sz="6000" b="1" dirty="0">
                <a:solidFill>
                  <a:schemeClr val="bg2">
                    <a:lumMod val="50000"/>
                  </a:schemeClr>
                </a:solidFill>
                <a:latin typeface="Calibri"/>
                <a:cs typeface="Calibri"/>
              </a:rPr>
              <a:t>Resultados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82EC04-2847-4CB0-AF86-AE1178B26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0"/>
            <a:ext cx="13716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99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DA5A34D-8A5C-7430-EBD6-6A9C67D7D7E3}"/>
              </a:ext>
            </a:extLst>
          </p:cNvPr>
          <p:cNvSpPr/>
          <p:nvPr/>
        </p:nvSpPr>
        <p:spPr>
          <a:xfrm>
            <a:off x="1261872" y="919680"/>
            <a:ext cx="2286000" cy="7097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Crear base modelo</a:t>
            </a:r>
          </a:p>
          <a:p>
            <a:pPr algn="ctr"/>
            <a:r>
              <a:rPr lang="es-ES" dirty="0"/>
              <a:t>Por enfermedad</a:t>
            </a:r>
            <a:endParaRPr lang="es-CO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6F5EB2E-8413-D01F-1054-002ADE38630F}"/>
              </a:ext>
            </a:extLst>
          </p:cNvPr>
          <p:cNvSpPr/>
          <p:nvPr/>
        </p:nvSpPr>
        <p:spPr>
          <a:xfrm>
            <a:off x="1313811" y="2414865"/>
            <a:ext cx="2176271" cy="7207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Conversión de nulos a -1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334B301-A1BC-199D-069A-3A3A6A1FA6E6}"/>
              </a:ext>
            </a:extLst>
          </p:cNvPr>
          <p:cNvSpPr/>
          <p:nvPr/>
        </p:nvSpPr>
        <p:spPr>
          <a:xfrm>
            <a:off x="1261872" y="5546871"/>
            <a:ext cx="2286000" cy="7097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/>
              <a:t>Optimización</a:t>
            </a:r>
            <a:endParaRPr lang="es-CO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B17B2CC-4402-D507-2340-15C6289B0C3E}"/>
              </a:ext>
            </a:extLst>
          </p:cNvPr>
          <p:cNvSpPr/>
          <p:nvPr/>
        </p:nvSpPr>
        <p:spPr>
          <a:xfrm>
            <a:off x="4581144" y="894260"/>
            <a:ext cx="2286000" cy="98227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Exploratorio 15 modelos</a:t>
            </a:r>
            <a:endParaRPr lang="es-CO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6C2FCF7-9BDA-D106-58A8-601A279C8989}"/>
              </a:ext>
            </a:extLst>
          </p:cNvPr>
          <p:cNvSpPr/>
          <p:nvPr/>
        </p:nvSpPr>
        <p:spPr>
          <a:xfrm>
            <a:off x="4590286" y="2937864"/>
            <a:ext cx="2286000" cy="98227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/>
              <a:t>Selección modelo mayor AUC</a:t>
            </a:r>
          </a:p>
          <a:p>
            <a:pPr algn="ctr"/>
            <a:r>
              <a:rPr lang="es-ES"/>
              <a:t>test</a:t>
            </a:r>
            <a:endParaRPr lang="es-CO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B294ADA0-1ABE-A963-BED7-739C83BE56A9}"/>
              </a:ext>
            </a:extLst>
          </p:cNvPr>
          <p:cNvSpPr/>
          <p:nvPr/>
        </p:nvSpPr>
        <p:spPr>
          <a:xfrm>
            <a:off x="1261872" y="3805635"/>
            <a:ext cx="2286000" cy="84433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Balanceo poblaciones</a:t>
            </a:r>
          </a:p>
          <a:p>
            <a:pPr algn="ctr"/>
            <a:r>
              <a:rPr lang="es-ES" dirty="0"/>
              <a:t>SMOTE</a:t>
            </a:r>
            <a:endParaRPr lang="es-CO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9EBE283-E685-C1B9-F636-1A8032F7F2B8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2401947" y="1629425"/>
            <a:ext cx="2925" cy="7854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6C64708F-A292-3332-0CC4-5F77EB12E8DE}"/>
              </a:ext>
            </a:extLst>
          </p:cNvPr>
          <p:cNvCxnSpPr>
            <a:cxnSpLocks/>
            <a:stCxn id="4" idx="2"/>
            <a:endCxn id="27" idx="0"/>
          </p:cNvCxnSpPr>
          <p:nvPr/>
        </p:nvCxnSpPr>
        <p:spPr>
          <a:xfrm>
            <a:off x="2401947" y="3135566"/>
            <a:ext cx="2925" cy="6700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7EB3FDCF-B500-CF37-5F85-7A87A0730504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>
            <a:off x="2404872" y="4649967"/>
            <a:ext cx="0" cy="8969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F762A68E-D97C-7762-B327-74D1842BEA69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 flipV="1">
            <a:off x="3547872" y="1385396"/>
            <a:ext cx="1033272" cy="45163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CA33EA50-9FE3-6143-57DD-FDEC87C697F0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5724144" y="1876532"/>
            <a:ext cx="9142" cy="10613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BF62C50-E37D-76F2-33DA-797FBE3139F3}"/>
              </a:ext>
            </a:extLst>
          </p:cNvPr>
          <p:cNvSpPr txBox="1"/>
          <p:nvPr/>
        </p:nvSpPr>
        <p:spPr>
          <a:xfrm>
            <a:off x="247261" y="213986"/>
            <a:ext cx="6485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1669B3"/>
                </a:solidFill>
              </a:rPr>
              <a:t>Método de optimización avanzado</a:t>
            </a:r>
            <a:endParaRPr lang="es-CO" sz="2400" dirty="0">
              <a:solidFill>
                <a:srgbClr val="1669B3"/>
              </a:solidFill>
            </a:endParaRPr>
          </a:p>
        </p:txBody>
      </p:sp>
      <p:pic>
        <p:nvPicPr>
          <p:cNvPr id="55" name="Imagen 5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6C8BD6E7-BD1F-4FF0-CA49-D898A07668D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2163B"/>
              </a:clrFrom>
              <a:clrTo>
                <a:srgbClr val="02163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0141" y="1881162"/>
            <a:ext cx="3730717" cy="3730717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B8A9708-39AD-C682-DE3E-7EE776B477C8}"/>
              </a:ext>
            </a:extLst>
          </p:cNvPr>
          <p:cNvCxnSpPr>
            <a:cxnSpLocks/>
            <a:stCxn id="17" idx="2"/>
            <a:endCxn id="6" idx="0"/>
          </p:cNvCxnSpPr>
          <p:nvPr/>
        </p:nvCxnSpPr>
        <p:spPr>
          <a:xfrm>
            <a:off x="5733286" y="3920136"/>
            <a:ext cx="0" cy="10613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EF1CBE3-3C5B-C29E-EB7A-A0DFA0E98C6C}"/>
              </a:ext>
            </a:extLst>
          </p:cNvPr>
          <p:cNvSpPr/>
          <p:nvPr/>
        </p:nvSpPr>
        <p:spPr>
          <a:xfrm>
            <a:off x="4482164" y="4981468"/>
            <a:ext cx="2502244" cy="98227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2 Modelos</a:t>
            </a:r>
          </a:p>
          <a:p>
            <a:pPr algn="ctr"/>
            <a:r>
              <a:rPr lang="es-ES" dirty="0"/>
              <a:t>optimizados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2F9847F7-66F5-40EE-8EAD-4C44E9014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-11179"/>
            <a:ext cx="13716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78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2543666F-0ABF-5444-8CFB-315B2A45E216}"/>
              </a:ext>
            </a:extLst>
          </p:cNvPr>
          <p:cNvSpPr/>
          <p:nvPr/>
        </p:nvSpPr>
        <p:spPr>
          <a:xfrm rot="5400000">
            <a:off x="-231119" y="172639"/>
            <a:ext cx="961534" cy="499296"/>
          </a:xfrm>
          <a:prstGeom prst="triangle">
            <a:avLst>
              <a:gd name="adj" fmla="val 50980"/>
            </a:avLst>
          </a:prstGeom>
          <a:solidFill>
            <a:srgbClr val="FFC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BF62C50-E37D-76F2-33DA-797FBE3139F3}"/>
              </a:ext>
            </a:extLst>
          </p:cNvPr>
          <p:cNvSpPr txBox="1"/>
          <p:nvPr/>
        </p:nvSpPr>
        <p:spPr>
          <a:xfrm>
            <a:off x="1135994" y="262597"/>
            <a:ext cx="10732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1669B3"/>
                </a:solidFill>
              </a:rPr>
              <a:t>Urolitiasis/Cálculos Urinarios </a:t>
            </a:r>
            <a:r>
              <a:rPr lang="es-ES" sz="2400" b="1" dirty="0" err="1">
                <a:solidFill>
                  <a:srgbClr val="1669B3"/>
                </a:solidFill>
              </a:rPr>
              <a:t>Naive</a:t>
            </a:r>
            <a:r>
              <a:rPr lang="es-ES" sz="2400" b="1" dirty="0">
                <a:solidFill>
                  <a:srgbClr val="1669B3"/>
                </a:solidFill>
              </a:rPr>
              <a:t> Bayes</a:t>
            </a:r>
            <a:endParaRPr lang="es-CO" sz="2400" dirty="0">
              <a:solidFill>
                <a:srgbClr val="1669B3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E101AB-A268-4CDF-86FB-F8A4872F3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944" y="1243837"/>
            <a:ext cx="9115661" cy="492118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82EF95E-F025-450C-8F6C-C2357C32B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-11179"/>
            <a:ext cx="13716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36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BF62C50-E37D-76F2-33DA-797FBE3139F3}"/>
              </a:ext>
            </a:extLst>
          </p:cNvPr>
          <p:cNvSpPr txBox="1"/>
          <p:nvPr/>
        </p:nvSpPr>
        <p:spPr>
          <a:xfrm>
            <a:off x="240644" y="300697"/>
            <a:ext cx="10732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1669B3"/>
                </a:solidFill>
              </a:rPr>
              <a:t>Urolitiasis/Cálculos Urinarios </a:t>
            </a:r>
            <a:r>
              <a:rPr lang="es-ES" sz="2400" b="1" dirty="0" err="1">
                <a:solidFill>
                  <a:srgbClr val="1669B3"/>
                </a:solidFill>
              </a:rPr>
              <a:t>Naive</a:t>
            </a:r>
            <a:r>
              <a:rPr lang="es-ES" sz="2400" b="1" dirty="0">
                <a:solidFill>
                  <a:srgbClr val="1669B3"/>
                </a:solidFill>
              </a:rPr>
              <a:t> Bayes</a:t>
            </a:r>
            <a:endParaRPr lang="es-CO" sz="2400" dirty="0">
              <a:solidFill>
                <a:srgbClr val="1669B3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6F5237-3DD0-411B-9DC8-2641C71EC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71" y="1560898"/>
            <a:ext cx="5609229" cy="407432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43B4694-8954-4C70-B403-982F88D7F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929" y="1021548"/>
            <a:ext cx="46863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44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BF62C50-E37D-76F2-33DA-797FBE3139F3}"/>
              </a:ext>
            </a:extLst>
          </p:cNvPr>
          <p:cNvSpPr txBox="1"/>
          <p:nvPr/>
        </p:nvSpPr>
        <p:spPr>
          <a:xfrm>
            <a:off x="220334" y="307079"/>
            <a:ext cx="11751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1669B3"/>
                </a:solidFill>
              </a:rPr>
              <a:t>Enfermedad Periodontal LGBM </a:t>
            </a:r>
            <a:r>
              <a:rPr lang="es-ES" sz="2400" b="1" dirty="0" err="1">
                <a:solidFill>
                  <a:srgbClr val="1669B3"/>
                </a:solidFill>
              </a:rPr>
              <a:t>classifier</a:t>
            </a:r>
            <a:r>
              <a:rPr lang="es-ES" sz="2400" b="1" dirty="0">
                <a:solidFill>
                  <a:srgbClr val="1669B3"/>
                </a:solidFill>
              </a:rPr>
              <a:t> (Light </a:t>
            </a:r>
            <a:r>
              <a:rPr lang="es-ES" sz="2400" b="1" dirty="0" err="1">
                <a:solidFill>
                  <a:srgbClr val="1669B3"/>
                </a:solidFill>
              </a:rPr>
              <a:t>Gradient</a:t>
            </a:r>
            <a:r>
              <a:rPr lang="es-ES" sz="2400" b="1" dirty="0">
                <a:solidFill>
                  <a:srgbClr val="1669B3"/>
                </a:solidFill>
              </a:rPr>
              <a:t> </a:t>
            </a:r>
            <a:r>
              <a:rPr lang="es-ES" sz="2400" b="1" dirty="0" err="1">
                <a:solidFill>
                  <a:srgbClr val="1669B3"/>
                </a:solidFill>
              </a:rPr>
              <a:t>Boosting</a:t>
            </a:r>
            <a:r>
              <a:rPr lang="es-ES" sz="2400" b="1" dirty="0">
                <a:solidFill>
                  <a:srgbClr val="1669B3"/>
                </a:solidFill>
              </a:rPr>
              <a:t> Machine)</a:t>
            </a:r>
            <a:endParaRPr lang="es-CO" sz="2400" dirty="0">
              <a:solidFill>
                <a:srgbClr val="1669B3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61D13A9-168D-4216-918A-835C4F5A2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2" y="1117383"/>
            <a:ext cx="3929828" cy="285447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F5078F6-AEBD-4174-80E7-2FB0A2103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75" y="1117383"/>
            <a:ext cx="4686300" cy="51530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84B2904-C34E-4B22-9240-8C9F54809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23" y="4106304"/>
            <a:ext cx="4010025" cy="259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259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5D1DA5D3-3DF0-4C91-AB26-35C809AC380E}"/>
              </a:ext>
            </a:extLst>
          </p:cNvPr>
          <p:cNvSpPr txBox="1"/>
          <p:nvPr/>
        </p:nvSpPr>
        <p:spPr>
          <a:xfrm rot="16200000">
            <a:off x="-1934560" y="3265134"/>
            <a:ext cx="5733837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 algn="ctr"/>
            <a:r>
              <a:rPr lang="es-CO" sz="6600" b="1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Pasos a seguir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7139CC-FF7D-4A01-A40B-88815ACA4655}"/>
              </a:ext>
            </a:extLst>
          </p:cNvPr>
          <p:cNvSpPr txBox="1"/>
          <p:nvPr/>
        </p:nvSpPr>
        <p:spPr>
          <a:xfrm>
            <a:off x="1951171" y="2519630"/>
            <a:ext cx="96907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s-CO" sz="2000" dirty="0">
                <a:solidFill>
                  <a:schemeClr val="bg2">
                    <a:lumMod val="2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Validación con mayor cantidad de datos</a:t>
            </a:r>
          </a:p>
          <a:p>
            <a:pPr marL="342900" indent="-342900" fontAlgn="base">
              <a:buFont typeface="+mj-lt"/>
              <a:buAutoNum type="arabicPeriod"/>
            </a:pPr>
            <a:endParaRPr lang="es-CO" sz="2000" dirty="0">
              <a:solidFill>
                <a:schemeClr val="bg2">
                  <a:lumMod val="25000"/>
                </a:schemeClr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es-CO" sz="200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Implementación del modelo usando API</a:t>
            </a:r>
          </a:p>
          <a:p>
            <a:pPr marL="342900" indent="-342900" fontAlgn="base">
              <a:buFont typeface="+mj-lt"/>
              <a:buAutoNum type="arabicPeriod"/>
            </a:pPr>
            <a:endParaRPr lang="es-CO" sz="2000" dirty="0">
              <a:solidFill>
                <a:schemeClr val="bg2">
                  <a:lumMod val="25000"/>
                </a:schemeClr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buFont typeface="+mj-lt"/>
              <a:buAutoNum type="arabicPeriod"/>
            </a:pPr>
            <a:r>
              <a:rPr lang="es-CO" sz="200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Definición de la periodicidad </a:t>
            </a:r>
            <a:r>
              <a:rPr lang="es-CO" sz="2000" dirty="0">
                <a:solidFill>
                  <a:schemeClr val="bg2">
                    <a:lumMod val="2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 actualización de los resultados</a:t>
            </a:r>
          </a:p>
          <a:p>
            <a:pPr marL="342900" lvl="0" indent="-342900" fontAlgn="base">
              <a:buFont typeface="+mj-lt"/>
              <a:buAutoNum type="arabicPeriod"/>
            </a:pPr>
            <a:endParaRPr lang="es-CO" sz="2000" dirty="0">
              <a:solidFill>
                <a:schemeClr val="bg2">
                  <a:lumMod val="25000"/>
                </a:schemeClr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buFont typeface="+mj-lt"/>
              <a:buAutoNum type="arabicPeriod"/>
            </a:pPr>
            <a:r>
              <a:rPr lang="es-CO" sz="200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Definición de proceso para cuantificación del beneficio</a:t>
            </a:r>
          </a:p>
          <a:p>
            <a:pPr marL="342900" lvl="0" indent="-342900" fontAlgn="base">
              <a:buFont typeface="+mj-lt"/>
              <a:buAutoNum type="arabicPeriod"/>
            </a:pPr>
            <a:endParaRPr lang="es-CO" sz="2000" dirty="0">
              <a:solidFill>
                <a:schemeClr val="bg2">
                  <a:lumMod val="25000"/>
                </a:schemeClr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buFont typeface="+mj-lt"/>
              <a:buAutoNum type="arabicPeriod"/>
            </a:pPr>
            <a:r>
              <a:rPr lang="es-CO" sz="2000" dirty="0">
                <a:solidFill>
                  <a:schemeClr val="bg2">
                    <a:lumMod val="2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Recolección de datos para calibración del modelo con nueva data</a:t>
            </a:r>
            <a:endParaRPr lang="es-CO" sz="2000" dirty="0">
              <a:solidFill>
                <a:schemeClr val="bg2">
                  <a:lumMod val="25000"/>
                </a:schemeClr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94B2BA2-B9D4-4773-9C00-C9C21779A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-11179"/>
            <a:ext cx="13716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340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89D540-84FA-4059-9124-DA1EE3C6FC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/>
        </p:blipFill>
        <p:spPr>
          <a:xfrm>
            <a:off x="2822258" y="1499488"/>
            <a:ext cx="6547484" cy="574738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6B6873B-DFA8-4808-93E3-79087C1DCF3C}"/>
              </a:ext>
            </a:extLst>
          </p:cNvPr>
          <p:cNvSpPr txBox="1"/>
          <p:nvPr/>
        </p:nvSpPr>
        <p:spPr>
          <a:xfrm>
            <a:off x="0" y="1499488"/>
            <a:ext cx="12192000" cy="1015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es-CO" sz="6000" b="1" dirty="0">
                <a:solidFill>
                  <a:schemeClr val="bg2">
                    <a:lumMod val="50000"/>
                  </a:schemeClr>
                </a:solidFill>
                <a:latin typeface="Calibri"/>
                <a:cs typeface="Calibri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831626761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Personalizado 1">
      <a:dk1>
        <a:srgbClr val="000000"/>
      </a:dk1>
      <a:lt1>
        <a:srgbClr val="FFFFFF"/>
      </a:lt1>
      <a:dk2>
        <a:srgbClr val="001F5B"/>
      </a:dk2>
      <a:lt2>
        <a:srgbClr val="FFED00"/>
      </a:lt2>
      <a:accent1>
        <a:srgbClr val="0070C0"/>
      </a:accent1>
      <a:accent2>
        <a:srgbClr val="40AFFF"/>
      </a:accent2>
      <a:accent3>
        <a:srgbClr val="FFED00"/>
      </a:accent3>
      <a:accent4>
        <a:srgbClr val="001F5B"/>
      </a:accent4>
      <a:accent5>
        <a:srgbClr val="0070C0"/>
      </a:accent5>
      <a:accent6>
        <a:srgbClr val="40AFFF"/>
      </a:accent6>
      <a:hlink>
        <a:srgbClr val="FFED00"/>
      </a:hlink>
      <a:folHlink>
        <a:srgbClr val="BFBF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spiral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A1F46192EED424B88662DA069FF4562" ma:contentTypeVersion="18" ma:contentTypeDescription="Crear nuevo documento." ma:contentTypeScope="" ma:versionID="546861f651bd66a85b0ebc8b6a8cca7c">
  <xsd:schema xmlns:xsd="http://www.w3.org/2001/XMLSchema" xmlns:xs="http://www.w3.org/2001/XMLSchema" xmlns:p="http://schemas.microsoft.com/office/2006/metadata/properties" xmlns:ns1="http://schemas.microsoft.com/sharepoint/v3" xmlns:ns2="2c8a0972-df73-43bc-bba7-b78679862596" xmlns:ns3="f57aa668-6cbe-4995-8c1f-0edd19b6ff27" targetNamespace="http://schemas.microsoft.com/office/2006/metadata/properties" ma:root="true" ma:fieldsID="96bba19b606c2a72a6426ab242783ae8" ns1:_="" ns2:_="" ns3:_="">
    <xsd:import namespace="http://schemas.microsoft.com/sharepoint/v3"/>
    <xsd:import namespace="2c8a0972-df73-43bc-bba7-b78679862596"/>
    <xsd:import namespace="f57aa668-6cbe-4995-8c1f-0edd19b6ff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Fecha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8a0972-df73-43bc-bba7-b786798625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615e11ee-7774-49ee-bc99-2ecbdf2ab5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Fecha" ma:index="24" ma:displayName="Fecha" ma:format="DateTime" ma:internalName="Fecha">
      <xsd:simpleType>
        <xsd:restriction base="dms:DateTim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aa668-6cbe-4995-8c1f-0edd19b6ff2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d7313f1-a1a6-4ee2-a568-5a05f772324e}" ma:internalName="TaxCatchAll" ma:showField="CatchAllData" ma:web="f57aa668-6cbe-4995-8c1f-0edd19b6ff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f57aa668-6cbe-4995-8c1f-0edd19b6ff27" xsi:nil="true"/>
    <lcf76f155ced4ddcb4097134ff3c332f xmlns="2c8a0972-df73-43bc-bba7-b78679862596">
      <Terms xmlns="http://schemas.microsoft.com/office/infopath/2007/PartnerControls"/>
    </lcf76f155ced4ddcb4097134ff3c332f>
    <_ip_UnifiedCompliancePolicyProperties xmlns="http://schemas.microsoft.com/sharepoint/v3" xsi:nil="true"/>
    <Fecha xmlns="2c8a0972-df73-43bc-bba7-b78679862596"/>
  </documentManagement>
</p:properties>
</file>

<file path=customXml/itemProps1.xml><?xml version="1.0" encoding="utf-8"?>
<ds:datastoreItem xmlns:ds="http://schemas.openxmlformats.org/officeDocument/2006/customXml" ds:itemID="{67716FB6-D1CC-4071-8B2D-CCDB7AB8E312}">
  <ds:schemaRefs>
    <ds:schemaRef ds:uri="2c8a0972-df73-43bc-bba7-b78679862596"/>
    <ds:schemaRef ds:uri="f57aa668-6cbe-4995-8c1f-0edd19b6ff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062F33-26DD-4F05-BA2D-801CA1E7E0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E63596-7D70-4BBE-8C5D-FEE7A0D5617F}">
  <ds:schemaRefs>
    <ds:schemaRef ds:uri="2c8a0972-df73-43bc-bba7-b78679862596"/>
    <ds:schemaRef ds:uri="7d63f2f2-bf77-491e-a152-21696749cd73"/>
    <ds:schemaRef ds:uri="f57aa668-6cbe-4995-8c1f-0edd19b6ff27"/>
    <ds:schemaRef ds:uri="f79246e8-4410-4b7c-b986-b8ab3cb8b5f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3595</TotalTime>
  <Words>299</Words>
  <Application>Microsoft Office PowerPoint</Application>
  <PresentationFormat>Panorámica</PresentationFormat>
  <Paragraphs>69</Paragraphs>
  <Slides>26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Arial</vt:lpstr>
      <vt:lpstr>Calibri</vt:lpstr>
      <vt:lpstr>Century Gothic</vt:lpstr>
      <vt:lpstr>Consolas</vt:lpstr>
      <vt:lpstr>Wingdings 3</vt:lpstr>
      <vt:lpstr>Diseño personalizado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CARO FERNANDEZ</dc:creator>
  <cp:lastModifiedBy>JHON VEGA</cp:lastModifiedBy>
  <cp:revision>27</cp:revision>
  <dcterms:created xsi:type="dcterms:W3CDTF">2021-05-20T13:24:44Z</dcterms:created>
  <dcterms:modified xsi:type="dcterms:W3CDTF">2025-12-09T02:50:19Z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0x0101004A1F46192EED424B88662DA069FF4562</vt:lpwstr>
  </property>
  <property fmtid="{D5CDD505-2E9C-101B-9397-08002B2CF9AE}" pid="3" name="MediaServiceImageTags">
    <vt:lpwstr/>
  </property>
</Properties>
</file>